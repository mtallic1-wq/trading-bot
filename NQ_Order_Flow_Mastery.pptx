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INSTITUTIONAL DERIVATIVES &amp; MICROSTRUCTURE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MASTERING NQ ORDER FLOW</a:t>
            </a:r>
          </a:p>
          <a:p>
            <a:pPr>
              <a:spcBef>
                <a:spcPts val="1200"/>
              </a:spcBef>
              <a:defRPr sz="1800">
                <a:solidFill>
                  <a:srgbClr val="9CA3AF"/>
                </a:solidFill>
                <a:latin typeface="Segoe UI"/>
              </a:defRPr>
            </a:pPr>
            <a:r>
              <a:t>Microstructure, Footprint Diagnostics &amp; Tactical Playbooks for E-mini &amp; Micro Nasdaq-100 Futures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2523744" cy="23774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794760"/>
            <a:ext cx="365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977640"/>
            <a:ext cx="20665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CME GLOBEX: NQ / MNQ</a:t>
            </a:r>
          </a:p>
          <a:p>
            <a:pPr>
              <a:spcBef>
                <a:spcPts val="800"/>
              </a:spcBef>
              <a:defRPr sz="1350" b="1">
                <a:solidFill>
                  <a:srgbClr val="F8FAFC"/>
                </a:solidFill>
                <a:latin typeface="Segoe UI"/>
              </a:defRPr>
            </a:pPr>
            <a:r>
              <a:t>$20 / pt ($5 / tick) - MNQ: $2 / pt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High Beta, Volatility &amp; Fast Sweeps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3566160"/>
            <a:ext cx="2523744" cy="23774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94176" y="3794760"/>
            <a:ext cx="36576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3977640"/>
            <a:ext cx="20665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onsolas"/>
              </a:defRPr>
            </a:pPr>
            <a:r>
              <a:t>MATCHING ENGINE</a:t>
            </a:r>
          </a:p>
          <a:p>
            <a:pPr>
              <a:spcBef>
                <a:spcPts val="800"/>
              </a:spcBef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Pure FIFO + MBO Queue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First In First Out order priority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566160"/>
            <a:ext cx="2523744" cy="23774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2" y="3794760"/>
            <a:ext cx="3657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977640"/>
            <a:ext cx="20665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  <a:latin typeface="Consolas"/>
              </a:defRPr>
            </a:pPr>
            <a:r>
              <a:t>CORE ENGINE</a:t>
            </a:r>
          </a:p>
          <a:p>
            <a:pPr>
              <a:spcBef>
                <a:spcPts val="800"/>
              </a:spcBef>
              <a:defRPr sz="1350" b="1">
                <a:solidFill>
                  <a:srgbClr val="F8FAFC"/>
                </a:solidFill>
                <a:latin typeface="Segoe UI"/>
              </a:defRPr>
            </a:pPr>
            <a:r>
              <a:t>Passive Limits vs Aggressive Orders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Price moves strictly on liquidity imbalance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3566160"/>
            <a:ext cx="2523744" cy="23774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62288" y="379476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3977640"/>
            <a:ext cx="20665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TACTICAL EDGE</a:t>
            </a:r>
          </a:p>
          <a:p>
            <a:pPr>
              <a:spcBef>
                <a:spcPts val="800"/>
              </a:spcBef>
              <a:defRPr sz="1350" b="1">
                <a:solidFill>
                  <a:srgbClr val="F8FAFC"/>
                </a:solidFill>
                <a:latin typeface="Segoe UI"/>
              </a:defRPr>
            </a:pPr>
            <a:r>
              <a:t>Absorption, CVD &amp; Footprint</a:t>
            </a:r>
          </a:p>
          <a:p>
            <a:pPr>
              <a:spcBef>
                <a:spcPts val="6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Institutional footprint retest plays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72865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onsolas"/>
              </a:defRPr>
            </a:pPr>
            <a:r>
              <a:t>Institutional Trading Desk Edition  |  CME Group Equity Index Derivatives  |  Proprietary Execution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ASSET PROFILE &amp; CME GLOBEX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Microstructure of NQ: Why Order Flow is Mandatory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HIGH BETA &amp; VELOCITY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Massive Daily Range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Average True Range (ATR) is typically 250 - 450+ points ($5,000 to $9,000+ per full NQ contract). Micro moves happen in seconds.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Tech Megacap Dominance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Top 7 tech names (AAPL, MSFT, NVDA, AMZN, META, GOOGL, TSLA) command &gt;50% index weight. Correlated basket arbitrage triggers violent multi-tick cascades.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Candlestick Lag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Standard time candles (1m, 5m) aggregate away the most critical micro-reversals. Only order flow reveals the battle inside each tick.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BOOK THINNESS VS ES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Shallow Resting Depth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NQ resting depth is typically only 15 to 40 contracts per tick, compared to ES (S&amp;P 500) which has 250 to 1,000+ contracts per tick.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Multi-Tick Sweeps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 single institutional market order of 50-100 contracts will punch through 4 to 8 price levels instantly, creating high slippage for market orders.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Liquidity Voids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During economic data releases (CPI, FOMC), depth drops to 2-5 contracts per tick. Understanding order book exhaustion protects against severe drawdowns.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onsolas"/>
              </a:defRPr>
            </a:pPr>
            <a:r>
              <a:t>CME GLOBEX SPECIFICATIONS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Pure FIFO Matching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CME Globex matches NQ orders via First In, First Out (FIFO). Time priority is absolute: early limit orders get filled first.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MBO (Market By Order)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CME provides individual order ID transparency. Institutional platforms track exact queue position and individual cancellations.</a:t>
            </a:r>
          </a:p>
          <a:p>
            <a:pPr>
              <a:spcBef>
                <a:spcPts val="1400"/>
              </a:spcBef>
              <a:defRPr sz="1250" b="1">
                <a:solidFill>
                  <a:srgbClr val="F8FAFC"/>
                </a:solidFill>
                <a:latin typeface="Segoe UI"/>
              </a:defRPr>
            </a:pPr>
            <a:r>
              <a:t>• Contract Multipliers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NQ: $20 / point ($5 / 0.25 tick). MNQ: $2 / point ($0.50 / 0.25 tick). Margin requirements and intraday risk demand strict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AUCTION MARKET THEORY &amp; THE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Market Mechanics: Passive vs Aggressive Liquidity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30368" cy="393192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8172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PASSIVE LIQUIDITY (THE BRAKES &amp; ABSORPTION)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Instrument: </a:t>
            </a:r>
            <a:r>
              <a:rPr b="0">
                <a:solidFill>
                  <a:srgbClr val="9CA3AF"/>
                </a:solidFill>
              </a:rPr>
              <a:t>Limit Orders (Buy Limit on Bid, Sell Limit on Offer / Ask).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Location: </a:t>
            </a:r>
            <a:r>
              <a:rPr b="0">
                <a:solidFill>
                  <a:srgbClr val="9CA3AF"/>
                </a:solidFill>
              </a:rPr>
              <a:t>Resting in the Depth of Market (DOM / Level 2 book).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Market Function: </a:t>
            </a:r>
            <a:r>
              <a:rPr b="0">
                <a:solidFill>
                  <a:srgbClr val="9CA3AF"/>
                </a:solidFill>
              </a:rPr>
              <a:t>Provides market liquidity. They do NOT move price by themselves; they stand as barriers to halt price advances.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Institutional Utilization: </a:t>
            </a:r>
            <a:r>
              <a:rPr b="0">
                <a:solidFill>
                  <a:srgbClr val="9CA3AF"/>
                </a:solidFill>
              </a:rPr>
              <a:t>Institutions accumulate massive positions through passive limits or hidden Iceberg orders to avoid paying spread slippage.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Behavior under Stress: </a:t>
            </a:r>
            <a:r>
              <a:rPr b="0">
                <a:solidFill>
                  <a:srgbClr val="9CA3AF"/>
                </a:solidFill>
              </a:rPr>
              <a:t>Can be cancelled ('pulled') in microseconds by algorithms, causing liquidity vacuums and sharp flash sweeps.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371600"/>
            <a:ext cx="5230368" cy="393192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645920"/>
            <a:ext cx="468172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onsolas"/>
              </a:defRPr>
            </a:pPr>
            <a:r>
              <a:t>AGGRESSIVE LIQUIDITY (THE ENGINE &amp; ACCELERATOR)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Instrument: </a:t>
            </a:r>
            <a:r>
              <a:rPr b="0">
                <a:solidFill>
                  <a:srgbClr val="9CA3AF"/>
                </a:solidFill>
              </a:rPr>
              <a:t>Market Orders &amp; Stop-Loss Orders (which become Market Orders when hit).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Location: </a:t>
            </a:r>
            <a:r>
              <a:rPr b="0">
                <a:solidFill>
                  <a:srgbClr val="9CA3AF"/>
                </a:solidFill>
              </a:rPr>
              <a:t>Printed immediately on the Time &amp; Sales tape and inside Footprint clusters.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Market Function: </a:t>
            </a:r>
            <a:r>
              <a:rPr b="0">
                <a:solidFill>
                  <a:srgbClr val="9CA3AF"/>
                </a:solidFill>
              </a:rPr>
              <a:t>Consumes resting liquidity. Demands immediate execution across the spread ('lifts the ask' or 'hits the bid').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Price Movement Law: </a:t>
            </a:r>
            <a:r>
              <a:rPr b="0">
                <a:solidFill>
                  <a:srgbClr val="9CA3AF"/>
                </a:solidFill>
              </a:rPr>
              <a:t>Price moves UP only when all resting sell limits at the Ask are exhausted by aggressive market buys, forcing the next tick.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Trapped Aggression: </a:t>
            </a:r>
            <a:r>
              <a:rPr b="0">
                <a:solidFill>
                  <a:srgbClr val="9CA3AF"/>
                </a:solidFill>
              </a:rPr>
              <a:t>Aggressive market buyers buying at highs into hidden institutional sell limits become trapped liquidity, fueling rapid reversals.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96128"/>
            <a:ext cx="101800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THE AXIOM OF AUCTION MARKET THEORY:</a:t>
            </a:r>
          </a:p>
          <a:p>
            <a:pPr>
              <a:spcBef>
                <a:spcPts val="3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"Price advertises opportunity, Volume validates participation, and Time regulates value." Heavy volume without price progress is the ultimate proof of institutional absorption.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DIAGNOSTIC TECHNOLOGY &amp; WORKSPACE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Order Flow Tool Suite: The Institutional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30368" cy="242316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68172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Consolas"/>
              </a:defRPr>
            </a:pPr>
            <a:r>
              <a:t>1. DEPTH OF MARKET (DOM / LEVEL 2)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Visualizes resting limit orders across multiple price tiers.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Queue Priority: </a:t>
            </a:r>
            <a:r>
              <a:rPr b="0">
                <a:solidFill>
                  <a:srgbClr val="9CA3AF"/>
                </a:solidFill>
              </a:rPr>
              <a:t>Tracks individual queue position under CME FIFO matching.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Pulling &amp; Stacking: </a:t>
            </a:r>
            <a:r>
              <a:rPr b="0">
                <a:solidFill>
                  <a:srgbClr val="9CA3AF"/>
                </a:solidFill>
              </a:rPr>
              <a:t>Detects algorithmic size manipulation, spoofing, and real replenishment.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Primary Use: </a:t>
            </a:r>
            <a:r>
              <a:rPr b="0">
                <a:solidFill>
                  <a:srgbClr val="9CA3AF"/>
                </a:solidFill>
              </a:rPr>
              <a:t>Micro-execution, scalping precision, and real-time resistance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371600"/>
            <a:ext cx="5230368" cy="242316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600200"/>
            <a:ext cx="468172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2C55E"/>
                </a:solidFill>
                <a:latin typeface="Consolas"/>
              </a:defRPr>
            </a:pPr>
            <a:r>
              <a:t>2. FOOTPRINT CHARTS (BID x ASK)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Inside-the-candle volume distribution at every exact price tick.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Aggressive Volume: </a:t>
            </a:r>
            <a:r>
              <a:rPr b="0">
                <a:solidFill>
                  <a:srgbClr val="9CA3AF"/>
                </a:solidFill>
              </a:rPr>
              <a:t>Splits aggressive sell volume (Bid) and aggressive buy volume (Ask).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Imbalances &amp; Traps: </a:t>
            </a:r>
            <a:r>
              <a:rPr b="0">
                <a:solidFill>
                  <a:srgbClr val="9CA3AF"/>
                </a:solidFill>
              </a:rPr>
              <a:t>Highlights 300%+ volume imbalances and exhaustion prints instantly.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Primary Use: </a:t>
            </a:r>
            <a:r>
              <a:rPr b="0">
                <a:solidFill>
                  <a:srgbClr val="9CA3AF"/>
                </a:solidFill>
              </a:rPr>
              <a:t>Confirming trade entry triggers and diagnosing trapped participants.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30368" cy="242316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468172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A855F7"/>
                </a:solidFill>
                <a:latin typeface="Consolas"/>
              </a:defRPr>
            </a:pPr>
            <a:r>
              <a:t>3. CUMULATIVE VOLUME DELTA (CVD)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running tally of Aggressive Buys minus Aggressive Sells.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Absorption Divergence: </a:t>
            </a:r>
            <a:r>
              <a:rPr b="0">
                <a:solidFill>
                  <a:srgbClr val="9CA3AF"/>
                </a:solidFill>
              </a:rPr>
              <a:t>Price prints lower low while CVD prints higher low (institutional buying).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Trend Validation: </a:t>
            </a:r>
            <a:r>
              <a:rPr b="0">
                <a:solidFill>
                  <a:srgbClr val="9CA3AF"/>
                </a:solidFill>
              </a:rPr>
              <a:t>Validates whether new highs are backed by net aggressive capital.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Primary Use: </a:t>
            </a:r>
            <a:r>
              <a:rPr b="0">
                <a:solidFill>
                  <a:srgbClr val="9CA3AF"/>
                </a:solidFill>
              </a:rPr>
              <a:t>Macro-session bias, divergence discovery, and trend health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023360"/>
            <a:ext cx="5230368" cy="242316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4251960"/>
            <a:ext cx="468172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Consolas"/>
              </a:defRPr>
            </a:pPr>
            <a:r>
              <a:t>4. VOLUME &amp; MARKET PROFILE (VP / TPO)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Aggregates volume over price to reveal fair value distribution.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Key Reference Points: </a:t>
            </a:r>
            <a:r>
              <a:rPr b="0">
                <a:solidFill>
                  <a:srgbClr val="9CA3AF"/>
                </a:solidFill>
              </a:rPr>
              <a:t>Point of Control (POC), Value Area High (VAH), Value Area Low (VAL).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HVN vs LVN: </a:t>
            </a:r>
            <a:r>
              <a:rPr b="0">
                <a:solidFill>
                  <a:srgbClr val="9CA3AF"/>
                </a:solidFill>
              </a:rPr>
              <a:t>High Volume Nodes act as magnets; Low Volume Nodes act as rapid transit zones.</a:t>
            </a:r>
          </a:p>
          <a:p>
            <a:pPr>
              <a:spcBef>
                <a:spcPts val="300"/>
              </a:spcBef>
              <a:defRPr sz="1000" b="1">
                <a:solidFill>
                  <a:srgbClr val="D1D5DB"/>
                </a:solidFill>
                <a:latin typeface="Segoe UI"/>
              </a:defRPr>
            </a:pPr>
            <a:r>
              <a:t>• Primary Use: </a:t>
            </a:r>
            <a:r>
              <a:rPr b="0">
                <a:solidFill>
                  <a:srgbClr val="9CA3AF"/>
                </a:solidFill>
              </a:rPr>
              <a:t>Framing structural context, determining targets, and defining trade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INSIDE-BAR ORDER EXECUTION &amp; IMBALANCE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Deconstructing the Footprint Chart for NQ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DIAGONAL BID/ASK COMPARISON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Mechanics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Aggressive buys lift the Ask at Price (P+0.25), while aggressive sells hit the Bid at Price (P). Footprints compare volume diagonally.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Standard Ratio Threshold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Institutional setups use 300% to 400% imbalance ratios. An Ask volume of 350 vs a Bid of 50 = 700% diagonal buy imbalance.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NQ Context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Because NQ is fast and thin, single-tick imbalances occur frequently. Never trade a single imbalance without structural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onsolas"/>
              </a:defRPr>
            </a:pPr>
            <a:r>
              <a:t>STACKED IMBALANCES (INITIATIVE)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Institutional Signature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3 or more consecutive price levels printing diagonal imbalances in the same direction within a candle (e.g. 3 consecutive green Ask imbalances).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Origin &amp; Meaning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Signifies institutional sweeping algorithms or HFT momentum cascades eating all resting depth across multiple ticks.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Actionable Playbook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The stacked imbalance block becomes high-conviction support/resistance. On a first pullback, price routinely bounces off this exact price shelf.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UNFINISHED AUCTIONS (POOR EXTREMES)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Zero Print Concept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 finished auction at a bar high or low must show an exhaustion print (e.g. 0 x 45 at high, meaning no buyers bid higher).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Unfinished Condition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If both Bid and Ask trade substantial volume at the absolute candle extreme (e.g. 78 x 112 at high), the auction was cut off mid-trade.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NQ Probability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NQ revisits and prints through &gt;80% of intraday unfinished auctions within the same or following trading session. They act as high-probability magnet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CORE ORDER FLOW MECHANICS FOR MAJOR MARKET TURNING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Absorption vs Exhaustion: The Two Reversal Signatures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303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8172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ABSORPTION (PASSIVE INSTITUTIONAL WALL)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Microstructure Reality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Aggressive traders flood the market with market sell orders, but price refuses to fall because an institution is absorbing all size with massive resting buy limits or icebergs.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Footprint Signatures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Enormous volume node at bottom candle wick.</a:t>
            </a:r>
            <a:br/>
            <a:r>
              <a:t>• Heavy negative delta (-800 to -1,500 contracts) inside the bar, yet the candle closes positive or leaves a deep rejection wick.</a:t>
            </a:r>
            <a:br/>
            <a:r>
              <a:t>• Consecutive bids repeatedly replenished on the DOM.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CVD Confirmation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CVD plunges aggressively to lower lows while price prints a higher low or equal double bottom (Bullish Absorption Divergence).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Tactical Execution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Enter LONG as trapped aggressive sellers are forced to buy to cover, igniting an explosive short squeeze back toward POC.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371600"/>
            <a:ext cx="52303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645920"/>
            <a:ext cx="468172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Consolas"/>
              </a:defRPr>
            </a:pPr>
            <a:r>
              <a:t>EXHAUSTION (AGGRESSIVE BUYER DEPLETION)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Microstructure Reality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The trend does NOT hit an active institutional wall; rather, aggressive participants simply run out of fuel. Buyers lose interest and refuse to lift the ask at higher prices.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Footprint Signatures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Very low volume prints at the upper extreme (e.g. 4 x 0 contracts at high of day).</a:t>
            </a:r>
            <a:br/>
            <a:r>
              <a:t>• Low Volume Node (LVN) at bar extreme with rapidly falling delta.</a:t>
            </a:r>
            <a:br/>
            <a:r>
              <a:t>• Zero prints / exhaustion tails showing lack of bid support.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CVD Confirmation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Price drifts to a new marginal high, but CVD slopes downward or fails to break its previous high (Bearish Exhaustion Divergence).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Tactical Execution</a:t>
            </a:r>
          </a:p>
          <a:p>
            <a:pPr>
              <a:spcBef>
                <a:spcPts val="3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Fade the failed probe; enter SHORT for a rotational mean-reversion back to the session Value Area High (VAH) or POC.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VOLUME DELTA DIAGNOSTICS &amp; MULTI-SESSION DIVERGENCE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Cumulative Volume Delta (CVD): Strategy &amp; Traps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CVD TREND REGIMES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Harmonic Trend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Price making Higher Highs + CVD making Higher Highs. Represents genuine institutional buying participation. Rule: Never counter-trend fade!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Absorption Divergence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Price prints Lower Lows while CVD prints Higher Lows. Aggressive sellers are selling in panic, but passive limit buyers are absorbing every contract.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Exhaustion Divergence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Price pushes to a new High of Day, but CVD prints a Lower High. Aggressive buyers have exhausted their capital; market is ripe for a sharp rotation.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SESSION ANCHORING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Overnight Distortion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Globex session (Asia/Europe) runs on thin volume. Heavy hedging by European desks can skew raw CVD into millions of negative/positive contracts.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Anchor at 09:30 AM EST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Always anchor a secondary CVD line strictly at the US Cash Market Open (09:30 AM EST). This isolates fresh US equity institutional order flow.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Multi-Anchor Strategy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Compare Globex-anchored CVD vs RTH-anchored CVD to determine whether overnight inventory is being accommodated or liquidated.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Consolas"/>
              </a:defRPr>
            </a:pPr>
            <a:r>
              <a:t>THE DANGEROUS 'DELTA TRAP'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Negative Delta Grinds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In NQ, market makers hedging 0DTE options gamma often buy index cash baskets while shorting futures passively. Price rallies 200 pts while CVD is deep negative!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Trap Explained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Novice traders see negative delta, assume 'sellers are in control', and short into a relentless gamma squeeze, suffering blown accounts.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Golden Invariant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NEVER enter a trade solely on CVD divergence without price structure validation (Value Area breach, footprint absorption wick, stacked imbalance).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INSTITUTIONAL EXECUTION TACTICS &amp; HIGH-FREQUENCY BEHAVIORS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NQ Order Book Phenomena: Algos, Icebergs &amp; Sweeps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ICEBERG ORDERS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Native CME Icebergs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Institutions hiding 300+ contract orders display only 5-10 visible contracts on the DOM. As soon as the display fills, CME instantly reloads another 5-10.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Detection Footprint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If Time &amp; Sales prints 450 contracts at 19,820.00, but DOM resting size never exceeded 12 contracts, an institutional iceberg absorbed the market.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Tactical Action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When price tests an iceberg and fails to push through after 2 attempts, lean against the iceberg with a tight 2-tick stop behind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onsolas"/>
              </a:defRPr>
            </a:pPr>
            <a:r>
              <a:t>SPOOFING &amp; PULL/STACK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'Phantom Wall'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HFT algorithms place 150-lot bids 4 ticks below market to trick retail algos into buying. As price gets within 1 tick, the bid evaporates instantly.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Liquidity Acid Test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Real institutional orders hold their ground and absorb volume when price arrives. Fake liquidity vanishes milliseconds before execution.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Speed Metrics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CME MBO feed reveals order cancellations. A high cancellation-to-fill ratio (&gt;85%) at a level confirms algorithmic spoofing.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onsolas"/>
              </a:defRPr>
            </a:pPr>
            <a:r>
              <a:t>LIQUIDITY SWEEPS &amp; STOPS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Engineering Counter-Liquidity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Institutions cannot enter 1,000 contracts without moving the market against themselves. They intentionally push price beyond key highs to trigger stops.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The Stop-Run Cascade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Buy-stops resting above Previous Day High (PDH) become market buy orders when hit. Institutions use these market buys to fill their large short orders.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NQ Stop Buffer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In NQ, stop-runs routinely extend 8 to 20 points past obvious swing highs/lows before snapping back. Never place stops at exact level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HIGH-PROBABILITY REVERSAL MODEL AT STRUCTURAL EXTREMES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Tactical Playbook 1: The Liquidity Sweep &amp; Absorption Reversal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600200"/>
            <a:ext cx="457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LEVEL CONTEXT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Identify Liquidity Pool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Mark Previous Day High (PDH), Overnight High (ONH), or Virgin POC.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Session Framing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Price is trading at or above Value Area High (VAH) in an extended condition.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Watch Depth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Monitor DOM for iceberg bids/asks holding resting size as price approaches.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94176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THE SWEEP &amp; BAIT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The Stop Run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Price pierces 5 to 15 points beyond the key swing level.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Retail Trap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Breakout traders enter long via market orders; short stops trigger into market buys.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Volume Surge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Time &amp; Sales shows massive aggressive buy prints hitting the 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1600200"/>
            <a:ext cx="457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Consolas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ABSORPTION PRINT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Footprint Cluster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Massive positive delta (+700 to +1,200) prints at top 3 ticks, but price stops advancing.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Wick Formation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The candle fails to hold new highs and forms a clear rejection tail.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Delta Flip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Aggressive sell imbalance prints immediately as price drops back below the 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62288" y="1600200"/>
            <a:ext cx="4572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  <a:latin typeface="Consolas"/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EXECUTION &amp; RISK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Entry Trigger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Short on market or limit at the retest of the broken level or stacked sell imbalance.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Stop Loss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Strictly 2-3 ticks above the sweep high wick (Risk: 8-14 NQ points).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Profit Targets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Target 1: Session POC.</a:t>
            </a:r>
            <a:br/>
            <a:r>
              <a:t>Target 2: Value Area Low (VAL) or Opposite Overnight 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INSTITUTIONAL MOMENTUM CONTINUATION MODEL IN TREND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Tactical Playbook 2: Stacked Imbalance Retest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600200"/>
            <a:ext cx="457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onsolas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INITIATIVE DRIVE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Session Catalyst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Market opens with an aggressive Opening Drive or breaks out of Initial Balance.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Sweeping Velocity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Large institutional participant lifts multiple price levels without pause.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Volume Expansion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Volume is 1.5x - 2.5x higher than the 20-period moving average.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94176" y="1600200"/>
            <a:ext cx="4572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2C55E"/>
                </a:solidFill>
                <a:latin typeface="Consolas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IMBALANCE CLUSTER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Footprint Verification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Identify 3 or more consecutive green buy imbalances (&gt;350% Ask/Bid ratio).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Mark the Zone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Draw a horizontal box covering the exact price span of the stacked imbalances.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Institutional Shelf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This zone represents committed institutional capital defending their average fill.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160020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LOW-VOLUME RETEST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Pullback Signature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Price pulls back to retest the top of the stacked imbalance zone.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Volume Evaporation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Crucial: The pullback must occur on low volume and declining negative delta.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No Sell Imbalances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If heavy aggressive selling prints into the zone, the setup is invalidated.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371600"/>
            <a:ext cx="2523744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62288" y="1600200"/>
            <a:ext cx="457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783080"/>
            <a:ext cx="206654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Consolas"/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ENTRY &amp; EXTENSION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Execution Trigger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Enter LONG upon first positive delta flip or aggressive bid absorption at the shelf.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Stop Loss Placement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Strictly 1-2 ticks below the lowest tick of the stacked imbalance block.</a:t>
            </a:r>
          </a:p>
          <a:p>
            <a:pPr>
              <a:spcBef>
                <a:spcPts val="1200"/>
              </a:spcBef>
              <a:defRPr sz="1100" b="1">
                <a:solidFill>
                  <a:srgbClr val="D1D5DB"/>
                </a:solidFill>
                <a:latin typeface="Segoe UI"/>
              </a:defRPr>
            </a:pPr>
            <a:r>
              <a:t>• Profit Target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Next liquidity pool (Unfinished Auction, Session High, or 2R/3R extension).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VOLATILITY REGIMES &amp; INSTITUTIONAL EXECUTION SCHEDULES (EST)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Time-of-Day Microstructure: The NQ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896112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27145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  <a:latin typeface="Consolas"/>
              </a:rPr>
              <a:t>08:30 AM EST  </a:t>
            </a:r>
            <a:r>
              <a:rPr sz="1150" b="1">
                <a:solidFill>
                  <a:srgbClr val="F8FAFC"/>
                </a:solidFill>
                <a:latin typeface="Segoe UI"/>
              </a:rPr>
              <a:t>|  MACRO CATALYST WINDOW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CPI, PPI, Non-Farm Payrolls, Retail Sales releases. Depth of market collapses to 2-5 contracts per tick; bid/ask spread widens up to 6 ticks. Pure algorithmic whipsaws. Strict desk rule: Flat book or wide execution envelopes.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14016"/>
            <a:ext cx="10728655" cy="896112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14016"/>
            <a:ext cx="73152" cy="8961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23744"/>
            <a:ext cx="1027145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onsolas"/>
              </a:rPr>
              <a:t>09:30 - 10:00 AM EST  </a:t>
            </a:r>
            <a:r>
              <a:rPr sz="1150" b="1">
                <a:solidFill>
                  <a:srgbClr val="F8FAFC"/>
                </a:solidFill>
                <a:latin typeface="Segoe UI"/>
              </a:rPr>
              <a:t>|  US CASH OPEN (OPENING DRIVE)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Massive liquidity injection from NYSE/Nasdaq cash open. Highest order flow volume and fastest pace of the day. Determines whether the session is an 'Initiative Trend Day' or an 'Open-Auction Mean Reversion'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56432"/>
            <a:ext cx="10728655" cy="896112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56432"/>
            <a:ext cx="73152" cy="8961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1027145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Consolas"/>
              </a:rPr>
              <a:t>10:00 - 11:30 AM EST  </a:t>
            </a:r>
            <a:r>
              <a:rPr sz="1150" b="1">
                <a:solidFill>
                  <a:srgbClr val="F8FAFC"/>
                </a:solidFill>
                <a:latin typeface="Segoe UI"/>
              </a:rPr>
              <a:t>|  PRIME TACTICAL WINDOW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The cleanest order flow environment. Initial balance is established. Institutional VWAP algorithms execute client orders. Highest win rate for Liquidity Sweep Reversals and Stacked Imbalance Retests.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98848"/>
            <a:ext cx="10728655" cy="896112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98848"/>
            <a:ext cx="73152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08576"/>
            <a:ext cx="1027145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Consolas"/>
              </a:rPr>
              <a:t>11:30 AM - 01:30 PM EST  </a:t>
            </a:r>
            <a:r>
              <a:rPr sz="1150" b="1">
                <a:solidFill>
                  <a:srgbClr val="F8FAFC"/>
                </a:solidFill>
                <a:latin typeface="Segoe UI"/>
              </a:rPr>
              <a:t>|  MIDDAY CHOP &amp; EUROPEAN CLOSE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London market closes at 11:30 AM EST. Order flow volume drops by 60%. Algorithms run mean-reverting tight ranges. Dangerous trap for breakout traders. Focus strictly on Value Area boundaries or step away.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41264"/>
            <a:ext cx="10728655" cy="896112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541264"/>
            <a:ext cx="73152" cy="89611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50992"/>
            <a:ext cx="10271455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Consolas"/>
              </a:rPr>
              <a:t>03:00 - 04:00 PM EST  </a:t>
            </a:r>
            <a:r>
              <a:rPr sz="1150" b="1">
                <a:solidFill>
                  <a:srgbClr val="F8FAFC"/>
                </a:solidFill>
                <a:latin typeface="Segoe UI"/>
              </a:rPr>
              <a:t>|  THE CLOSING POWER HOUR &amp; MOC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Market-On-Close (MOC) imbalance orders submitted by mutual funds and ETFs at 03:50 PM. Heavy portfolio rebalancing causes violent directional trending or aggressive gamma pin squeezes into the 4:00 PM bell.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PROFESSIONAL RISK PROTOCOLS &amp; PRE-MARKET 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Execution Infrastructure, Risk &amp; Daily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70432"/>
            <a:ext cx="10728655" cy="18288"/>
          </a:xfrm>
          <a:prstGeom prst="rect">
            <a:avLst/>
          </a:prstGeom>
          <a:solidFill>
            <a:srgbClr val="2D3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11480"/>
            <a:ext cx="36877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>
                <a:solidFill>
                  <a:srgbClr val="9CA3AF"/>
                </a:solidFill>
                <a:latin typeface="Consolas"/>
              </a:defRPr>
            </a:pPr>
            <a:r>
              <a:t>NQ ORDER FLOW PLAYBOOK  |  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EXECUTION INFRASTRUCTURE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Direct CME MBO Feed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Must use unthrottled Level 2 Market By Order feed (Rithmic, CQG, TT). Retail CFD brokers or aggregated feeds hide true queue depth.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Platform Selection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Sierra Chart (Package 11/12), ATAS, NinjaTrader 8 with Order Flow Suite, or Bookmap for heatmap liquidity visualization.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Gateway Latency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Sub-20ms ping to CME Aurora data center. In NQ, high execution latency results in severe slippage on market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Consolas"/>
              </a:defRPr>
            </a:pPr>
            <a:r>
              <a:t>NQ RISK MANAGEMENT LAWS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Dollar Volatility Sizing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NQ is $20 / point ($5 / tick). A normal 20-point stop = $400 / contract. If volatility index (VXN) &gt; 25, transition to Micro (MNQ, $2 / pt) to keep risk constant.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Order Flow Stops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Never place arbitrary 15 or 20 point stops. Place stops strictly 2 ticks behind confirmed absorption nodes or stacked imbalance shelves.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Max Daily Loss Limit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Hard software lock: 3 consecutive losses or 2.5% account drawdown shuts down trading for the day. Protect psychological capital.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01568" cy="5120640"/>
          </a:xfrm>
          <a:prstGeom prst="roundRect">
            <a:avLst/>
          </a:prstGeom>
          <a:solidFill>
            <a:srgbClr val="161E2E"/>
          </a:solidFill>
          <a:ln w="1524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44368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Consolas"/>
              </a:defRPr>
            </a:pPr>
            <a:r>
              <a:t>THE DAILY 5-POINT CHECKLIST</a:t>
            </a:r>
          </a:p>
          <a:p>
            <a:pPr>
              <a:spcBef>
                <a:spcPts val="11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[ 1 ] Map Key Macro Levels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Mark Prior Day High/Low (PDH/PDL), Overnight High/Low (ONH/ONL), and Prior Session POC.</a:t>
            </a:r>
          </a:p>
          <a:p>
            <a:pPr>
              <a:spcBef>
                <a:spcPts val="11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[ 2 ] Scan Unfinished Auctions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Audit previous 3 sessions for virgin POCs (vPOCs) and unclosed auction extremes.</a:t>
            </a:r>
          </a:p>
          <a:p>
            <a:pPr>
              <a:spcBef>
                <a:spcPts val="11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[ 3 ] Check Catalyst Calendar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Confirm timing of 08:30 AM EST and 10:00 AM EST data releases and Fed speaker schedules.</a:t>
            </a:r>
          </a:p>
          <a:p>
            <a:pPr>
              <a:spcBef>
                <a:spcPts val="11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[ 4 ] Anchor CVD at 09:30 AM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Establish baseline delta from the opening bell to detect early institutional divergence.</a:t>
            </a:r>
          </a:p>
          <a:p>
            <a:pPr>
              <a:spcBef>
                <a:spcPts val="11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[ 5 ] Require Footprint Validation</a:t>
            </a:r>
          </a:p>
          <a:p>
            <a:pPr>
              <a:spcBef>
                <a:spcPts val="2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Never enter without confirmed stacked imbalance or absorption exhaustion at key levels.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